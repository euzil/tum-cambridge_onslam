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3edbfa243_2_10:notes"/>
          <p:cNvSpPr/>
          <p:nvPr>
            <p:ph idx="2" type="sldImg"/>
          </p:nvPr>
        </p:nvSpPr>
        <p:spPr>
          <a:xfrm>
            <a:off x="1893299" y="685965"/>
            <a:ext cx="3071401" cy="342982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d3edbfa243_2_10:notes"/>
          <p:cNvSpPr txBox="1"/>
          <p:nvPr>
            <p:ph idx="1" type="body"/>
          </p:nvPr>
        </p:nvSpPr>
        <p:spPr>
          <a:xfrm>
            <a:off x="685801" y="4343409"/>
            <a:ext cx="5486400" cy="411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d3edbfa243_2_10:notes"/>
          <p:cNvSpPr txBox="1"/>
          <p:nvPr>
            <p:ph idx="12" type="sldNum"/>
          </p:nvPr>
        </p:nvSpPr>
        <p:spPr>
          <a:xfrm>
            <a:off x="3884615" y="8685229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03e7d44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403e7d44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03e7d44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403e7d44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edbfa24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3edbfa2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03e7d44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403e7d44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03e7d44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403e7d44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descr="20150416 tum logo blau png final.png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18800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Euzil" TargetMode="External"/><Relationship Id="rId4" Type="http://schemas.openxmlformats.org/officeDocument/2006/relationships/hyperlink" Target="https://gitlab.lrz.de/go73hay" TargetMode="External"/><Relationship Id="rId11" Type="http://schemas.openxmlformats.org/officeDocument/2006/relationships/image" Target="../media/image1.jpg"/><Relationship Id="rId10" Type="http://schemas.openxmlformats.org/officeDocument/2006/relationships/hyperlink" Target="http://drive.google.com/file/d/1N3dhjEdJTqwrs4t34R8_bXOWG-xMO8OP/view" TargetMode="External"/><Relationship Id="rId9" Type="http://schemas.openxmlformats.org/officeDocument/2006/relationships/image" Target="../media/image4.jpg"/><Relationship Id="rId5" Type="http://schemas.openxmlformats.org/officeDocument/2006/relationships/hyperlink" Target="https://github.com/Euzil/Introduction_to_ROS/tree/main" TargetMode="External"/><Relationship Id="rId6" Type="http://schemas.openxmlformats.org/officeDocument/2006/relationships/hyperlink" Target="https://github.com/Euzil/SIM2REAL-2025" TargetMode="External"/><Relationship Id="rId7" Type="http://schemas.openxmlformats.org/officeDocument/2006/relationships/hyperlink" Target="https://github.com/Euzil/Christiano_Roboto" TargetMode="External"/><Relationship Id="rId8" Type="http://schemas.openxmlformats.org/officeDocument/2006/relationships/hyperlink" Target="http://drive.google.com/file/d/1NAhbLM1ETthoec_2ZnTQ9RghUXvpZ1Pn/vie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M_Glockenturm.tif"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Towards Dynamic-aware SLAM with 4D Reconstruction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64388" y="3277190"/>
            <a:ext cx="85089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Youran Wang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02.04.2026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32575" y="1538575"/>
            <a:ext cx="4246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Robotics, Cognition, Intelligence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Technical University of Munich, Munich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Apr. 2024 - laufend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Robotik und Autonomie System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University of Lübeck, Luebeck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Sept. 2019 - März 2024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432575" y="495450"/>
            <a:ext cx="80691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/>
              <a:t>Youran Wang</a:t>
            </a:r>
            <a:r>
              <a:rPr lang="zh-CN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github: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https://github.com/Euzil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gitlab: </a:t>
            </a:r>
            <a:r>
              <a:rPr lang="zh-CN" u="sng">
                <a:solidFill>
                  <a:schemeClr val="hlink"/>
                </a:solidFill>
                <a:hlinkClick r:id="rId4"/>
              </a:rPr>
              <a:t>https://gitlab.lrz.de/go73hay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432575" y="3231775"/>
            <a:ext cx="2579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My Projekts before: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F2328"/>
                </a:solidFill>
                <a:highlight>
                  <a:schemeClr val="lt1"/>
                </a:highlight>
              </a:rPr>
              <a:t>Autonomous Driving Project</a:t>
            </a:r>
            <a:r>
              <a:rPr lang="zh-CN" sz="900">
                <a:solidFill>
                  <a:srgbClr val="1F2328"/>
                </a:solidFill>
                <a:highlight>
                  <a:schemeClr val="lt1"/>
                </a:highlight>
              </a:rPr>
              <a:t> </a:t>
            </a:r>
            <a:endParaRPr sz="900">
              <a:solidFill>
                <a:srgbClr val="1F2328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u="sng">
                <a:solidFill>
                  <a:schemeClr val="hlink"/>
                </a:solidFill>
                <a:hlinkClick r:id="rId5"/>
              </a:rPr>
              <a:t>https://github.com/Euzil/Introduction_to_ROS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F2328"/>
                </a:solidFill>
                <a:highlight>
                  <a:schemeClr val="lt1"/>
                </a:highlight>
              </a:rPr>
              <a:t>Sim2Real Challenge 2025</a:t>
            </a:r>
            <a:endParaRPr sz="1100">
              <a:solidFill>
                <a:srgbClr val="1F2328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u="sng">
                <a:solidFill>
                  <a:schemeClr val="hlink"/>
                </a:solidFill>
                <a:highlight>
                  <a:schemeClr val="lt1"/>
                </a:highlight>
                <a:hlinkClick r:id="rId6"/>
              </a:rPr>
              <a:t>https://github.com/Euzil/SIM2REAL-2025</a:t>
            </a:r>
            <a:endParaRPr sz="900">
              <a:solidFill>
                <a:srgbClr val="1F2328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1F2328"/>
                </a:solidFill>
                <a:highlight>
                  <a:schemeClr val="lt1"/>
                </a:highlight>
              </a:rPr>
              <a:t>Cristiano Roboto</a:t>
            </a:r>
            <a:endParaRPr sz="1100">
              <a:solidFill>
                <a:srgbClr val="1F2328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u="sng">
                <a:solidFill>
                  <a:schemeClr val="hlink"/>
                </a:solidFill>
                <a:highlight>
                  <a:schemeClr val="lt1"/>
                </a:highlight>
                <a:hlinkClick r:id="rId7"/>
              </a:rPr>
              <a:t>https://github.com/Euzil/Christiano_Roboto</a:t>
            </a:r>
            <a:endParaRPr sz="900">
              <a:solidFill>
                <a:srgbClr val="1F2328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75" name="Google Shape;75;p16" title="Video Project 2.mp4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55325" y="2691150"/>
            <a:ext cx="4037952" cy="227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final_result.MOV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36350" y="1696425"/>
            <a:ext cx="1837156" cy="326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75225" y="526925"/>
            <a:ext cx="7369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Review:</a:t>
            </a:r>
            <a:r>
              <a:rPr lang="zh-CN"/>
              <a:t> FoundationSLAM: Unleashing the Power of Depth Foundation Models for End-to-End Dense Visual SLAM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275225" y="1234925"/>
            <a:ext cx="6488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/>
              <a:t>matching without </a:t>
            </a:r>
            <a:r>
              <a:rPr lang="zh-CN">
                <a:solidFill>
                  <a:schemeClr val="dk1"/>
                </a:solidFill>
              </a:rPr>
              <a:t>Geometry</a:t>
            </a:r>
            <a:endParaRPr sz="17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/>
              <a:t>no multi-view consistency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314550" y="2092000"/>
            <a:ext cx="786600" cy="7629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RGB</a:t>
            </a:r>
            <a:endParaRPr sz="1200"/>
          </a:p>
        </p:txBody>
      </p:sp>
      <p:sp>
        <p:nvSpPr>
          <p:cNvPr id="84" name="Google Shape;84;p17"/>
          <p:cNvSpPr/>
          <p:nvPr/>
        </p:nvSpPr>
        <p:spPr>
          <a:xfrm>
            <a:off x="1609825" y="2119450"/>
            <a:ext cx="13764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Hybrid Flow Network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3969475" y="2119450"/>
            <a:ext cx="13764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Bi-Consistent Bundle Adjustment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6329150" y="2119450"/>
            <a:ext cx="15669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Reliability-aware Refinement</a:t>
            </a:r>
            <a:endParaRPr/>
          </a:p>
        </p:txBody>
      </p:sp>
      <p:cxnSp>
        <p:nvCxnSpPr>
          <p:cNvPr id="87" name="Google Shape;87;p17"/>
          <p:cNvCxnSpPr>
            <a:stCxn id="83" idx="6"/>
            <a:endCxn id="84" idx="1"/>
          </p:cNvCxnSpPr>
          <p:nvPr/>
        </p:nvCxnSpPr>
        <p:spPr>
          <a:xfrm>
            <a:off x="1101150" y="2473450"/>
            <a:ext cx="50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>
            <a:stCxn id="84" idx="3"/>
            <a:endCxn id="85" idx="1"/>
          </p:cNvCxnSpPr>
          <p:nvPr/>
        </p:nvCxnSpPr>
        <p:spPr>
          <a:xfrm>
            <a:off x="2986225" y="2473450"/>
            <a:ext cx="98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7"/>
          <p:cNvCxnSpPr>
            <a:stCxn id="85" idx="3"/>
            <a:endCxn id="86" idx="1"/>
          </p:cNvCxnSpPr>
          <p:nvPr/>
        </p:nvCxnSpPr>
        <p:spPr>
          <a:xfrm>
            <a:off x="5345875" y="2473450"/>
            <a:ext cx="98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7"/>
          <p:cNvCxnSpPr>
            <a:stCxn id="86" idx="3"/>
            <a:endCxn id="84" idx="0"/>
          </p:cNvCxnSpPr>
          <p:nvPr/>
        </p:nvCxnSpPr>
        <p:spPr>
          <a:xfrm rot="10800000">
            <a:off x="2298050" y="2119450"/>
            <a:ext cx="5598000" cy="354000"/>
          </a:xfrm>
          <a:prstGeom prst="bentConnector4">
            <a:avLst>
              <a:gd fmla="val -4254" name="adj1"/>
              <a:gd fmla="val 1672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7"/>
          <p:cNvSpPr/>
          <p:nvPr/>
        </p:nvSpPr>
        <p:spPr>
          <a:xfrm>
            <a:off x="1022400" y="3098475"/>
            <a:ext cx="1101000" cy="88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/>
              <a:t>Geometry Prior Branch</a:t>
            </a:r>
            <a:endParaRPr sz="1100"/>
          </a:p>
        </p:txBody>
      </p:sp>
      <p:sp>
        <p:nvSpPr>
          <p:cNvPr id="92" name="Google Shape;92;p17"/>
          <p:cNvSpPr/>
          <p:nvPr/>
        </p:nvSpPr>
        <p:spPr>
          <a:xfrm>
            <a:off x="2392400" y="3098475"/>
            <a:ext cx="1101000" cy="88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/>
              <a:t>Task-specific Branch</a:t>
            </a:r>
            <a:endParaRPr sz="1100"/>
          </a:p>
        </p:txBody>
      </p:sp>
      <p:sp>
        <p:nvSpPr>
          <p:cNvPr id="93" name="Google Shape;93;p17"/>
          <p:cNvSpPr/>
          <p:nvPr/>
        </p:nvSpPr>
        <p:spPr>
          <a:xfrm>
            <a:off x="3898675" y="3019825"/>
            <a:ext cx="1518000" cy="2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</a:rPr>
              <a:t>u_i at </a:t>
            </a:r>
            <a:r>
              <a:rPr lang="zh-CN" sz="1000"/>
              <a:t>frame i </a:t>
            </a:r>
            <a:endParaRPr sz="1000"/>
          </a:p>
        </p:txBody>
      </p:sp>
      <p:sp>
        <p:nvSpPr>
          <p:cNvPr id="94" name="Google Shape;94;p17"/>
          <p:cNvSpPr/>
          <p:nvPr/>
        </p:nvSpPr>
        <p:spPr>
          <a:xfrm>
            <a:off x="3898675" y="3439625"/>
            <a:ext cx="1518000" cy="2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u_i + depth → 3D</a:t>
            </a:r>
            <a:endParaRPr sz="1000"/>
          </a:p>
        </p:txBody>
      </p:sp>
      <p:sp>
        <p:nvSpPr>
          <p:cNvPr id="95" name="Google Shape;95;p17"/>
          <p:cNvSpPr/>
          <p:nvPr/>
        </p:nvSpPr>
        <p:spPr>
          <a:xfrm>
            <a:off x="3898675" y="3859425"/>
            <a:ext cx="1518000" cy="2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3D → frame j → u_proj</a:t>
            </a:r>
            <a:endParaRPr sz="1000"/>
          </a:p>
        </p:txBody>
      </p:sp>
      <p:sp>
        <p:nvSpPr>
          <p:cNvPr id="96" name="Google Shape;96;p17"/>
          <p:cNvSpPr/>
          <p:nvPr/>
        </p:nvSpPr>
        <p:spPr>
          <a:xfrm>
            <a:off x="3898675" y="4279225"/>
            <a:ext cx="1518000" cy="28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compare u_proj  with flow</a:t>
            </a:r>
            <a:endParaRPr sz="1000"/>
          </a:p>
        </p:txBody>
      </p:sp>
      <p:cxnSp>
        <p:nvCxnSpPr>
          <p:cNvPr id="97" name="Google Shape;97;p17"/>
          <p:cNvCxnSpPr>
            <a:stCxn id="85" idx="2"/>
            <a:endCxn id="93" idx="0"/>
          </p:cNvCxnSpPr>
          <p:nvPr/>
        </p:nvCxnSpPr>
        <p:spPr>
          <a:xfrm>
            <a:off x="4657675" y="2827450"/>
            <a:ext cx="0" cy="1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7"/>
          <p:cNvCxnSpPr>
            <a:endCxn id="94" idx="0"/>
          </p:cNvCxnSpPr>
          <p:nvPr/>
        </p:nvCxnSpPr>
        <p:spPr>
          <a:xfrm>
            <a:off x="4657675" y="3303125"/>
            <a:ext cx="0" cy="1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>
            <a:endCxn id="95" idx="0"/>
          </p:cNvCxnSpPr>
          <p:nvPr/>
        </p:nvCxnSpPr>
        <p:spPr>
          <a:xfrm>
            <a:off x="4657675" y="3722925"/>
            <a:ext cx="0" cy="1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7"/>
          <p:cNvCxnSpPr>
            <a:stCxn id="95" idx="2"/>
            <a:endCxn id="96" idx="0"/>
          </p:cNvCxnSpPr>
          <p:nvPr/>
        </p:nvCxnSpPr>
        <p:spPr>
          <a:xfrm>
            <a:off x="4657675" y="4142625"/>
            <a:ext cx="0" cy="1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7"/>
          <p:cNvCxnSpPr>
            <a:stCxn id="96" idx="3"/>
            <a:endCxn id="93" idx="3"/>
          </p:cNvCxnSpPr>
          <p:nvPr/>
        </p:nvCxnSpPr>
        <p:spPr>
          <a:xfrm flipH="1" rot="10800000">
            <a:off x="5416675" y="3161425"/>
            <a:ext cx="600" cy="12594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7"/>
          <p:cNvCxnSpPr>
            <a:stCxn id="84" idx="2"/>
            <a:endCxn id="91" idx="0"/>
          </p:cNvCxnSpPr>
          <p:nvPr/>
        </p:nvCxnSpPr>
        <p:spPr>
          <a:xfrm flipH="1">
            <a:off x="1572925" y="2827450"/>
            <a:ext cx="72510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7"/>
          <p:cNvCxnSpPr>
            <a:stCxn id="84" idx="2"/>
            <a:endCxn id="92" idx="0"/>
          </p:cNvCxnSpPr>
          <p:nvPr/>
        </p:nvCxnSpPr>
        <p:spPr>
          <a:xfrm>
            <a:off x="2298025" y="2827450"/>
            <a:ext cx="64500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7"/>
          <p:cNvSpPr/>
          <p:nvPr/>
        </p:nvSpPr>
        <p:spPr>
          <a:xfrm>
            <a:off x="6050900" y="3098475"/>
            <a:ext cx="1101000" cy="88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small error → reliable</a:t>
            </a:r>
            <a:endParaRPr sz="1000"/>
          </a:p>
        </p:txBody>
      </p:sp>
      <p:sp>
        <p:nvSpPr>
          <p:cNvPr id="105" name="Google Shape;105;p17"/>
          <p:cNvSpPr/>
          <p:nvPr/>
        </p:nvSpPr>
        <p:spPr>
          <a:xfrm>
            <a:off x="7414450" y="3098475"/>
            <a:ext cx="1101000" cy="88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large error → unreliable</a:t>
            </a:r>
            <a:endParaRPr sz="1000"/>
          </a:p>
        </p:txBody>
      </p:sp>
      <p:cxnSp>
        <p:nvCxnSpPr>
          <p:cNvPr id="106" name="Google Shape;106;p17"/>
          <p:cNvCxnSpPr>
            <a:stCxn id="91" idx="3"/>
            <a:endCxn id="92" idx="1"/>
          </p:cNvCxnSpPr>
          <p:nvPr/>
        </p:nvCxnSpPr>
        <p:spPr>
          <a:xfrm>
            <a:off x="2123400" y="3539025"/>
            <a:ext cx="26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>
            <a:stCxn id="86" idx="2"/>
            <a:endCxn id="104" idx="0"/>
          </p:cNvCxnSpPr>
          <p:nvPr/>
        </p:nvCxnSpPr>
        <p:spPr>
          <a:xfrm flipH="1">
            <a:off x="6601400" y="2827450"/>
            <a:ext cx="51120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7"/>
          <p:cNvCxnSpPr>
            <a:stCxn id="86" idx="2"/>
            <a:endCxn id="105" idx="0"/>
          </p:cNvCxnSpPr>
          <p:nvPr/>
        </p:nvCxnSpPr>
        <p:spPr>
          <a:xfrm>
            <a:off x="7112600" y="2827450"/>
            <a:ext cx="85230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275225" y="526925"/>
            <a:ext cx="73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Review:</a:t>
            </a:r>
            <a:r>
              <a:rPr lang="zh-CN"/>
              <a:t> </a:t>
            </a:r>
            <a:r>
              <a:rPr lang="zh-CN"/>
              <a:t>V-DPM: 4D Video Reconstruction with Dynamic Point Maps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45100" y="3378050"/>
            <a:ext cx="786600" cy="7629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/>
              <a:t>Video frames</a:t>
            </a:r>
            <a:endParaRPr sz="900"/>
          </a:p>
        </p:txBody>
      </p:sp>
      <p:sp>
        <p:nvSpPr>
          <p:cNvPr id="115" name="Google Shape;115;p18"/>
          <p:cNvSpPr/>
          <p:nvPr/>
        </p:nvSpPr>
        <p:spPr>
          <a:xfrm>
            <a:off x="1750563" y="3126375"/>
            <a:ext cx="983100" cy="127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VGGT Backbone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Frame attention（帧内建模）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Global attention（跨帧建模）</a:t>
            </a:r>
            <a:endParaRPr sz="1200"/>
          </a:p>
        </p:txBody>
      </p:sp>
      <p:sp>
        <p:nvSpPr>
          <p:cNvPr id="116" name="Google Shape;116;p18"/>
          <p:cNvSpPr/>
          <p:nvPr/>
        </p:nvSpPr>
        <p:spPr>
          <a:xfrm>
            <a:off x="3544153" y="2481638"/>
            <a:ext cx="13434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Time-variant Head (DPT)</a:t>
            </a:r>
            <a:endParaRPr sz="1200"/>
          </a:p>
        </p:txBody>
      </p:sp>
      <p:sp>
        <p:nvSpPr>
          <p:cNvPr id="117" name="Google Shape;117;p18"/>
          <p:cNvSpPr/>
          <p:nvPr/>
        </p:nvSpPr>
        <p:spPr>
          <a:xfrm>
            <a:off x="5586425" y="3411363"/>
            <a:ext cx="12399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Time-invariant Head (DPT)</a:t>
            </a:r>
            <a:endParaRPr sz="1200"/>
          </a:p>
        </p:txBody>
      </p:sp>
      <p:cxnSp>
        <p:nvCxnSpPr>
          <p:cNvPr id="118" name="Google Shape;118;p18"/>
          <p:cNvCxnSpPr>
            <a:stCxn id="114" idx="6"/>
            <a:endCxn id="115" idx="1"/>
          </p:cNvCxnSpPr>
          <p:nvPr/>
        </p:nvCxnSpPr>
        <p:spPr>
          <a:xfrm>
            <a:off x="931700" y="3759500"/>
            <a:ext cx="8190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>
            <a:stCxn id="115" idx="3"/>
            <a:endCxn id="116" idx="1"/>
          </p:cNvCxnSpPr>
          <p:nvPr/>
        </p:nvCxnSpPr>
        <p:spPr>
          <a:xfrm flipH="1" rot="10800000">
            <a:off x="2733663" y="2835675"/>
            <a:ext cx="810600" cy="9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8"/>
          <p:cNvSpPr txBox="1"/>
          <p:nvPr/>
        </p:nvSpPr>
        <p:spPr>
          <a:xfrm>
            <a:off x="275225" y="1019525"/>
            <a:ext cx="21393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DUSt3R / VGGT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Only static scenes can be processed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2320100" y="1019525"/>
            <a:ext cx="3000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MonST3R 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It can perform 4D operations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relies on 2D tracking (optical flow/keypoints) and is not a "pure 3D representation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033400" y="1019525"/>
            <a:ext cx="30000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Dynamic Point Maps（DPM）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A unified representation of 3D + motion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>
                <a:solidFill>
                  <a:schemeClr val="dk1"/>
                </a:solidFill>
              </a:rPr>
              <a:t>only handle two images (pairwise); multi-frame processing requires optimization (slow and complex)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894075" y="2863075"/>
            <a:ext cx="94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/>
              <a:t>1.patch tokens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/>
              <a:t>2.camera token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/>
              <a:t>3.register tokens</a:t>
            </a:r>
            <a:endParaRPr sz="800"/>
          </a:p>
        </p:txBody>
      </p:sp>
      <p:sp>
        <p:nvSpPr>
          <p:cNvPr id="124" name="Google Shape;124;p18"/>
          <p:cNvSpPr txBox="1"/>
          <p:nvPr/>
        </p:nvSpPr>
        <p:spPr>
          <a:xfrm>
            <a:off x="2350275" y="4404375"/>
            <a:ext cx="123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800"/>
              <a:t>Camera tokens: ĉ_i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5" name="Google Shape;125;p18"/>
          <p:cNvSpPr txBox="1"/>
          <p:nvPr/>
        </p:nvSpPr>
        <p:spPr>
          <a:xfrm>
            <a:off x="5495788" y="2638675"/>
            <a:ext cx="116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/>
              <a:t>P_i(t_i, π0)</a:t>
            </a:r>
            <a:endParaRPr sz="800"/>
          </a:p>
        </p:txBody>
      </p:sp>
      <p:sp>
        <p:nvSpPr>
          <p:cNvPr id="126" name="Google Shape;126;p18"/>
          <p:cNvSpPr txBox="1"/>
          <p:nvPr/>
        </p:nvSpPr>
        <p:spPr>
          <a:xfrm>
            <a:off x="6812675" y="3645863"/>
            <a:ext cx="7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/>
              <a:t>P_i(t_j, π0)</a:t>
            </a:r>
            <a:endParaRPr sz="800"/>
          </a:p>
        </p:txBody>
      </p:sp>
      <p:cxnSp>
        <p:nvCxnSpPr>
          <p:cNvPr id="127" name="Google Shape;127;p18"/>
          <p:cNvCxnSpPr>
            <a:stCxn id="117" idx="3"/>
            <a:endCxn id="128" idx="1"/>
          </p:cNvCxnSpPr>
          <p:nvPr/>
        </p:nvCxnSpPr>
        <p:spPr>
          <a:xfrm flipH="1" rot="10800000">
            <a:off x="6826325" y="3346563"/>
            <a:ext cx="6903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8"/>
          <p:cNvSpPr/>
          <p:nvPr/>
        </p:nvSpPr>
        <p:spPr>
          <a:xfrm>
            <a:off x="3590152" y="4329363"/>
            <a:ext cx="12975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Camera Head</a:t>
            </a:r>
            <a:endParaRPr sz="1200"/>
          </a:p>
        </p:txBody>
      </p:sp>
      <p:sp>
        <p:nvSpPr>
          <p:cNvPr id="130" name="Google Shape;130;p18"/>
          <p:cNvSpPr/>
          <p:nvPr/>
        </p:nvSpPr>
        <p:spPr>
          <a:xfrm>
            <a:off x="3552550" y="3405500"/>
            <a:ext cx="1343400" cy="7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/>
              <a:t>Time-conditioned Decoder (Transformer)</a:t>
            </a:r>
            <a:endParaRPr sz="1100"/>
          </a:p>
        </p:txBody>
      </p:sp>
      <p:cxnSp>
        <p:nvCxnSpPr>
          <p:cNvPr id="131" name="Google Shape;131;p18"/>
          <p:cNvCxnSpPr>
            <a:stCxn id="115" idx="3"/>
            <a:endCxn id="130" idx="1"/>
          </p:cNvCxnSpPr>
          <p:nvPr/>
        </p:nvCxnSpPr>
        <p:spPr>
          <a:xfrm flipH="1" rot="10800000">
            <a:off x="2733663" y="3759375"/>
            <a:ext cx="8190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8"/>
          <p:cNvCxnSpPr>
            <a:stCxn id="130" idx="3"/>
            <a:endCxn id="117" idx="1"/>
          </p:cNvCxnSpPr>
          <p:nvPr/>
        </p:nvCxnSpPr>
        <p:spPr>
          <a:xfrm>
            <a:off x="4895950" y="3759500"/>
            <a:ext cx="6906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8"/>
          <p:cNvCxnSpPr>
            <a:stCxn id="115" idx="3"/>
            <a:endCxn id="129" idx="1"/>
          </p:cNvCxnSpPr>
          <p:nvPr/>
        </p:nvCxnSpPr>
        <p:spPr>
          <a:xfrm>
            <a:off x="2733663" y="3765375"/>
            <a:ext cx="856500" cy="9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18"/>
          <p:cNvSpPr txBox="1"/>
          <p:nvPr/>
        </p:nvSpPr>
        <p:spPr>
          <a:xfrm>
            <a:off x="2309325" y="2781625"/>
            <a:ext cx="106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Feature tokens: p̂_i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2956963" y="3529425"/>
            <a:ext cx="3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1"/>
                </a:solidFill>
              </a:rPr>
              <a:t>p̂_i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4770025" y="3382000"/>
            <a:ext cx="227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/>
              <a:t>Aligned feature</a:t>
            </a:r>
            <a:r>
              <a:rPr lang="zh-CN" sz="900"/>
              <a:t> (</a:t>
            </a:r>
            <a:r>
              <a:rPr lang="zh-CN" sz="900"/>
              <a:t>t_j)</a:t>
            </a:r>
            <a:endParaRPr sz="900"/>
          </a:p>
        </p:txBody>
      </p:sp>
      <p:sp>
        <p:nvSpPr>
          <p:cNvPr id="128" name="Google Shape;128;p18"/>
          <p:cNvSpPr/>
          <p:nvPr/>
        </p:nvSpPr>
        <p:spPr>
          <a:xfrm>
            <a:off x="7516750" y="2481678"/>
            <a:ext cx="1343400" cy="17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Scene Flow  Tracking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ΔP = P_i(t_j) - P_i(t_i)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P0(t0) → P0(t1) → ... → P0(tN)</a:t>
            </a:r>
            <a:endParaRPr sz="1200"/>
          </a:p>
        </p:txBody>
      </p:sp>
      <p:cxnSp>
        <p:nvCxnSpPr>
          <p:cNvPr id="137" name="Google Shape;137;p18"/>
          <p:cNvCxnSpPr>
            <a:stCxn id="116" idx="3"/>
            <a:endCxn id="128" idx="1"/>
          </p:cNvCxnSpPr>
          <p:nvPr/>
        </p:nvCxnSpPr>
        <p:spPr>
          <a:xfrm>
            <a:off x="4887553" y="2835638"/>
            <a:ext cx="2629200" cy="51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275525" y="584725"/>
            <a:ext cx="3794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FoundationSLAM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conclusion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More accurate (lower ATE)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Reconstruction is better (lower Chamfer distance).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Real-time (18 FPS)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Innovation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Deep fusion of Flow and Geometry;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Bi-consistent BA;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Residual-driven structured correction;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True closed-loop optimization (end-to-end).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4509025" y="524550"/>
            <a:ext cx="35439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V-DPM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conclusion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Compared to previous methods: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error rate ↓ ~5 times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In multi-frame scenarios: DPM performance degrades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V-DPM remains stable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Qualitative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Smoother, More consistent, No more breakage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chemeClr val="dk1"/>
                </a:solidFill>
              </a:rPr>
              <a:t>Innovation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Two-stage decomposition;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Time-conditioned transformer;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CN">
                <a:solidFill>
                  <a:schemeClr val="dk1"/>
                </a:solidFill>
              </a:rPr>
              <a:t>Transfer learning using static models.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3381081" y="1845800"/>
            <a:ext cx="26511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/>
              <a:t>Q&amp;A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el 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